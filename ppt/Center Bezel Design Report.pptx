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929" y="645794"/>
            <a:ext cx="4560697" cy="26386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7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915" y="248869"/>
            <a:ext cx="623443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45719"/>
            <a:ext cx="2919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Automotive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Plastic Part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46370" y="796874"/>
            <a:ext cx="16732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0" dirty="0">
                <a:latin typeface="Times New Roman"/>
                <a:cs typeface="Times New Roman"/>
              </a:rPr>
              <a:t>Center</a:t>
            </a:r>
            <a:r>
              <a:rPr sz="2500" b="0" spc="-65" dirty="0">
                <a:latin typeface="Times New Roman"/>
                <a:cs typeface="Times New Roman"/>
              </a:rPr>
              <a:t> </a:t>
            </a:r>
            <a:r>
              <a:rPr sz="2500" b="0" spc="-10" dirty="0">
                <a:latin typeface="Times New Roman"/>
                <a:cs typeface="Times New Roman"/>
              </a:rPr>
              <a:t>Bezel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5369" y="1256030"/>
            <a:ext cx="6534911" cy="4346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3237" y="5927284"/>
            <a:ext cx="294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BY_DEVANSHU_BORASE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6440" cy="19697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objective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project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center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bezel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component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Class-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surface.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process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involves </a:t>
            </a:r>
            <a:r>
              <a:rPr sz="1500" dirty="0">
                <a:latin typeface="Times New Roman"/>
                <a:cs typeface="Times New Roman"/>
              </a:rPr>
              <a:t>establishing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appropriate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compliance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conducting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validate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integrity.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latin typeface="Times New Roman"/>
                <a:cs typeface="Times New Roman"/>
              </a:rPr>
              <a:t>Class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Surface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Import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0.01mm.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0796" y="2720670"/>
            <a:ext cx="4931663" cy="3558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8427720" cy="375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Axis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for</a:t>
            </a:r>
            <a:r>
              <a:rPr sz="1500" spc="-10" dirty="0">
                <a:latin typeface="Times New Roman"/>
                <a:cs typeface="Times New Roman"/>
              </a:rPr>
              <a:t> manufacturability.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Analyze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geometry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feasible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mold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normal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method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creation.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Angles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 industry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standards.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(commonly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depend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maintain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styling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intent,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consistency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Perform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Analysis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Highlight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negative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regions.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Confirm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spc="-10" dirty="0"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Some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clearing.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47946" y="1139063"/>
            <a:ext cx="7279005" cy="5550535"/>
            <a:chOff x="4647946" y="1139063"/>
            <a:chExt cx="7279005" cy="55505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4696" y="1139063"/>
              <a:ext cx="4072128" cy="2927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7946" y="3471672"/>
              <a:ext cx="4091051" cy="32177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94051" y="5332539"/>
              <a:ext cx="789305" cy="797560"/>
            </a:xfrm>
            <a:custGeom>
              <a:avLst/>
              <a:gdLst/>
              <a:ahLst/>
              <a:cxnLst/>
              <a:rect l="l" t="t" r="r" b="b"/>
              <a:pathLst>
                <a:path w="789304" h="797560">
                  <a:moveTo>
                    <a:pt x="21862" y="271017"/>
                  </a:moveTo>
                  <a:lnTo>
                    <a:pt x="39440" y="227853"/>
                  </a:lnTo>
                  <a:lnTo>
                    <a:pt x="61334" y="187829"/>
                  </a:lnTo>
                  <a:lnTo>
                    <a:pt x="87167" y="151134"/>
                  </a:lnTo>
                  <a:lnTo>
                    <a:pt x="116564" y="117957"/>
                  </a:lnTo>
                  <a:lnTo>
                    <a:pt x="149146" y="88485"/>
                  </a:lnTo>
                  <a:lnTo>
                    <a:pt x="184538" y="62906"/>
                  </a:lnTo>
                  <a:lnTo>
                    <a:pt x="222364" y="41409"/>
                  </a:lnTo>
                  <a:lnTo>
                    <a:pt x="262246" y="24182"/>
                  </a:lnTo>
                  <a:lnTo>
                    <a:pt x="303808" y="11412"/>
                  </a:lnTo>
                  <a:lnTo>
                    <a:pt x="346673" y="3289"/>
                  </a:lnTo>
                  <a:lnTo>
                    <a:pt x="390466" y="0"/>
                  </a:lnTo>
                  <a:lnTo>
                    <a:pt x="434809" y="1732"/>
                  </a:lnTo>
                  <a:lnTo>
                    <a:pt x="479325" y="8676"/>
                  </a:lnTo>
                  <a:lnTo>
                    <a:pt x="523639" y="21018"/>
                  </a:lnTo>
                  <a:lnTo>
                    <a:pt x="566240" y="38440"/>
                  </a:lnTo>
                  <a:lnTo>
                    <a:pt x="605692" y="60248"/>
                  </a:lnTo>
                  <a:lnTo>
                    <a:pt x="641813" y="86062"/>
                  </a:lnTo>
                  <a:lnTo>
                    <a:pt x="674420" y="115503"/>
                  </a:lnTo>
                  <a:lnTo>
                    <a:pt x="703331" y="148193"/>
                  </a:lnTo>
                  <a:lnTo>
                    <a:pt x="728363" y="183753"/>
                  </a:lnTo>
                  <a:lnTo>
                    <a:pt x="749334" y="221805"/>
                  </a:lnTo>
                  <a:lnTo>
                    <a:pt x="766062" y="261969"/>
                  </a:lnTo>
                  <a:lnTo>
                    <a:pt x="778364" y="303867"/>
                  </a:lnTo>
                  <a:lnTo>
                    <a:pt x="786057" y="347120"/>
                  </a:lnTo>
                  <a:lnTo>
                    <a:pt x="788960" y="391349"/>
                  </a:lnTo>
                  <a:lnTo>
                    <a:pt x="786889" y="436177"/>
                  </a:lnTo>
                  <a:lnTo>
                    <a:pt x="779663" y="481223"/>
                  </a:lnTo>
                  <a:lnTo>
                    <a:pt x="767098" y="526109"/>
                  </a:lnTo>
                  <a:lnTo>
                    <a:pt x="749520" y="569283"/>
                  </a:lnTo>
                  <a:lnTo>
                    <a:pt x="727626" y="609312"/>
                  </a:lnTo>
                  <a:lnTo>
                    <a:pt x="701792" y="646010"/>
                  </a:lnTo>
                  <a:lnTo>
                    <a:pt x="672394" y="679188"/>
                  </a:lnTo>
                  <a:lnTo>
                    <a:pt x="639809" y="708659"/>
                  </a:lnTo>
                  <a:lnTo>
                    <a:pt x="604412" y="734235"/>
                  </a:lnTo>
                  <a:lnTo>
                    <a:pt x="566581" y="755729"/>
                  </a:lnTo>
                  <a:lnTo>
                    <a:pt x="526691" y="772953"/>
                  </a:lnTo>
                  <a:lnTo>
                    <a:pt x="485119" y="785719"/>
                  </a:lnTo>
                  <a:lnTo>
                    <a:pt x="442241" y="793840"/>
                  </a:lnTo>
                  <a:lnTo>
                    <a:pt x="398433" y="797129"/>
                  </a:lnTo>
                  <a:lnTo>
                    <a:pt x="354072" y="795397"/>
                  </a:lnTo>
                  <a:lnTo>
                    <a:pt x="309534" y="788457"/>
                  </a:lnTo>
                  <a:lnTo>
                    <a:pt x="265194" y="776122"/>
                  </a:lnTo>
                  <a:lnTo>
                    <a:pt x="222619" y="758706"/>
                  </a:lnTo>
                  <a:lnTo>
                    <a:pt x="183189" y="736903"/>
                  </a:lnTo>
                  <a:lnTo>
                    <a:pt x="147086" y="711093"/>
                  </a:lnTo>
                  <a:lnTo>
                    <a:pt x="114495" y="681653"/>
                  </a:lnTo>
                  <a:lnTo>
                    <a:pt x="85596" y="648963"/>
                  </a:lnTo>
                  <a:lnTo>
                    <a:pt x="60574" y="613401"/>
                  </a:lnTo>
                  <a:lnTo>
                    <a:pt x="39611" y="575347"/>
                  </a:lnTo>
                  <a:lnTo>
                    <a:pt x="22889" y="535180"/>
                  </a:lnTo>
                  <a:lnTo>
                    <a:pt x="10591" y="493279"/>
                  </a:lnTo>
                  <a:lnTo>
                    <a:pt x="2900" y="450022"/>
                  </a:lnTo>
                  <a:lnTo>
                    <a:pt x="0" y="405788"/>
                  </a:lnTo>
                  <a:lnTo>
                    <a:pt x="2071" y="360957"/>
                  </a:lnTo>
                  <a:lnTo>
                    <a:pt x="9298" y="315907"/>
                  </a:lnTo>
                  <a:lnTo>
                    <a:pt x="21862" y="27101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64217" y="4097147"/>
              <a:ext cx="2562605" cy="25923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801222" y="5869927"/>
            <a:ext cx="103568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1939"/>
              </a:lnSpc>
            </a:pPr>
            <a:r>
              <a:rPr sz="1800" dirty="0">
                <a:latin typeface="Times New Roman"/>
                <a:cs typeface="Times New Roman"/>
              </a:rPr>
              <a:t>Open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Edge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3551" y="6036932"/>
            <a:ext cx="864869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Undercut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Curvature</a:t>
            </a:r>
            <a:r>
              <a:rPr spc="-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2579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criteria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according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R21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2.5mm).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blue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doesn't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R21.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7816" y="1203197"/>
            <a:ext cx="6897624" cy="53353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</a:t>
            </a:r>
            <a:r>
              <a:rPr spc="-120" dirty="0"/>
              <a:t> </a:t>
            </a:r>
            <a:r>
              <a:rPr spc="-20" dirty="0"/>
              <a:t>A</a:t>
            </a:r>
            <a:r>
              <a:rPr spc="-105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spc="-10" dirty="0"/>
              <a:t>Modification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64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Remove 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removing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error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multis-section.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b="1" dirty="0">
                <a:latin typeface="Times New Roman"/>
                <a:cs typeface="Times New Roman"/>
              </a:rPr>
              <a:t>Area</a:t>
            </a:r>
            <a:r>
              <a:rPr sz="1500" b="1" spc="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under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undercut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surface</a:t>
            </a:r>
            <a:r>
              <a:rPr sz="1500" b="1" spc="1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recreation</a:t>
            </a:r>
            <a:r>
              <a:rPr sz="1500" b="1" spc="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steps:</a:t>
            </a:r>
            <a:r>
              <a:rPr sz="1500" b="1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Untrim &gt;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both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(Left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Right)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Extrapolate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other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Intersection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(with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direction)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-10" dirty="0">
                <a:latin typeface="Times New Roman"/>
                <a:cs typeface="Times New Roman"/>
              </a:rPr>
              <a:t> Fillet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408175"/>
            <a:ext cx="4390771" cy="28346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45536" y="3940555"/>
            <a:ext cx="185420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dirty="0">
                <a:latin typeface="Times New Roman"/>
                <a:cs typeface="Times New Roman"/>
              </a:rPr>
              <a:t>Open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edge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removed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05350" y="1408175"/>
            <a:ext cx="7221855" cy="5158740"/>
            <a:chOff x="4705350" y="1408175"/>
            <a:chExt cx="7221855" cy="51587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5350" y="1408175"/>
              <a:ext cx="4978019" cy="28346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3048" y="3873474"/>
              <a:ext cx="4303776" cy="269328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722234" y="1552194"/>
            <a:ext cx="183832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5"/>
              </a:lnSpc>
            </a:pPr>
            <a:r>
              <a:rPr sz="1800" dirty="0">
                <a:latin typeface="Times New Roman"/>
                <a:cs typeface="Times New Roman"/>
              </a:rPr>
              <a:t>Created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intersection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73039" y="5987491"/>
            <a:ext cx="1819910" cy="527685"/>
          </a:xfrm>
          <a:custGeom>
            <a:avLst/>
            <a:gdLst/>
            <a:ahLst/>
            <a:cxnLst/>
            <a:rect l="l" t="t" r="r" b="b"/>
            <a:pathLst>
              <a:path w="1819909" h="527684">
                <a:moveTo>
                  <a:pt x="1764792" y="274320"/>
                </a:moveTo>
                <a:lnTo>
                  <a:pt x="949452" y="274320"/>
                </a:lnTo>
                <a:lnTo>
                  <a:pt x="949452" y="527304"/>
                </a:lnTo>
                <a:lnTo>
                  <a:pt x="1764792" y="527304"/>
                </a:lnTo>
                <a:lnTo>
                  <a:pt x="1764792" y="274320"/>
                </a:lnTo>
                <a:close/>
              </a:path>
              <a:path w="1819909" h="527684">
                <a:moveTo>
                  <a:pt x="1819656" y="0"/>
                </a:moveTo>
                <a:lnTo>
                  <a:pt x="0" y="0"/>
                </a:lnTo>
                <a:lnTo>
                  <a:pt x="0" y="252984"/>
                </a:lnTo>
                <a:lnTo>
                  <a:pt x="1819656" y="252984"/>
                </a:lnTo>
                <a:lnTo>
                  <a:pt x="181965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61101" y="5947054"/>
            <a:ext cx="1790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Sweep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w.r.t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tooling</a:t>
            </a:r>
            <a:endParaRPr sz="18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direction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</a:t>
            </a:r>
            <a:r>
              <a:rPr spc="-120" dirty="0"/>
              <a:t> </a:t>
            </a:r>
            <a:r>
              <a:rPr spc="-20" dirty="0"/>
              <a:t>A</a:t>
            </a:r>
            <a:r>
              <a:rPr spc="-105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spc="-10" dirty="0"/>
              <a:t>Modification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9497" y="1033272"/>
            <a:ext cx="7032879" cy="53583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36976" y="5962954"/>
            <a:ext cx="266954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A-</a:t>
            </a:r>
            <a:r>
              <a:rPr sz="1800" dirty="0">
                <a:latin typeface="Times New Roman"/>
                <a:cs typeface="Times New Roman"/>
              </a:rPr>
              <a:t>Surface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cleared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tooling.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4230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Offset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entire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thickness.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Note: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 fail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correctly,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especially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Missing/Failed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45" dirty="0">
                <a:latin typeface="Times New Roman"/>
                <a:cs typeface="Times New Roman"/>
              </a:rPr>
              <a:t>CATIA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sub-</a:t>
            </a:r>
            <a:r>
              <a:rPr sz="1500" dirty="0">
                <a:latin typeface="Times New Roman"/>
                <a:cs typeface="Times New Roman"/>
              </a:rPr>
              <a:t>elements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(fillets,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cannot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offset.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must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reconstructed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manually.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915" y="2272410"/>
            <a:ext cx="42875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Manual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patch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extrapolate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split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&gt;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multi-</a:t>
            </a:r>
            <a:r>
              <a:rPr sz="1500" dirty="0">
                <a:latin typeface="Times New Roman"/>
                <a:cs typeface="Times New Roman"/>
              </a:rPr>
              <a:t>section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where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come.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915" y="3095371"/>
            <a:ext cx="6435725" cy="87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primary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offset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620"/>
              </a:lnSpc>
            </a:pP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 </a:t>
            </a:r>
            <a:r>
              <a:rPr sz="1500" dirty="0">
                <a:latin typeface="Times New Roman"/>
                <a:cs typeface="Times New Roman"/>
              </a:rPr>
              <a:t>connectivity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 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-10" dirty="0">
                <a:latin typeface="Times New Roman"/>
                <a:cs typeface="Times New Roman"/>
              </a:rPr>
              <a:t> remain.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507" y="621791"/>
            <a:ext cx="4941315" cy="27066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76947" y="2749169"/>
            <a:ext cx="1670685" cy="2743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5"/>
              </a:lnSpc>
            </a:pP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offset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76947" y="3023489"/>
            <a:ext cx="76263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surfaces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5175" y="2956305"/>
            <a:ext cx="11661775" cy="3529965"/>
            <a:chOff x="265175" y="2956305"/>
            <a:chExt cx="11661775" cy="352996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5507" y="3428974"/>
              <a:ext cx="4941315" cy="30571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1924" y="4031970"/>
              <a:ext cx="2886075" cy="245414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175" y="4031957"/>
              <a:ext cx="3579367" cy="22547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911462" y="2962655"/>
              <a:ext cx="494665" cy="759460"/>
            </a:xfrm>
            <a:custGeom>
              <a:avLst/>
              <a:gdLst/>
              <a:ahLst/>
              <a:cxnLst/>
              <a:rect l="l" t="t" r="r" b="b"/>
              <a:pathLst>
                <a:path w="494665" h="759460">
                  <a:moveTo>
                    <a:pt x="370712" y="0"/>
                  </a:moveTo>
                  <a:lnTo>
                    <a:pt x="123570" y="0"/>
                  </a:lnTo>
                  <a:lnTo>
                    <a:pt x="123570" y="511810"/>
                  </a:lnTo>
                  <a:lnTo>
                    <a:pt x="0" y="511810"/>
                  </a:lnTo>
                  <a:lnTo>
                    <a:pt x="247141" y="758952"/>
                  </a:lnTo>
                  <a:lnTo>
                    <a:pt x="494410" y="511810"/>
                  </a:lnTo>
                  <a:lnTo>
                    <a:pt x="370712" y="511810"/>
                  </a:lnTo>
                  <a:lnTo>
                    <a:pt x="37071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11462" y="2962655"/>
              <a:ext cx="494665" cy="759460"/>
            </a:xfrm>
            <a:custGeom>
              <a:avLst/>
              <a:gdLst/>
              <a:ahLst/>
              <a:cxnLst/>
              <a:rect l="l" t="t" r="r" b="b"/>
              <a:pathLst>
                <a:path w="494665" h="759460">
                  <a:moveTo>
                    <a:pt x="370712" y="0"/>
                  </a:moveTo>
                  <a:lnTo>
                    <a:pt x="370712" y="511810"/>
                  </a:lnTo>
                  <a:lnTo>
                    <a:pt x="494410" y="511810"/>
                  </a:lnTo>
                  <a:lnTo>
                    <a:pt x="247141" y="758952"/>
                  </a:lnTo>
                  <a:lnTo>
                    <a:pt x="0" y="511810"/>
                  </a:lnTo>
                  <a:lnTo>
                    <a:pt x="123570" y="511810"/>
                  </a:lnTo>
                  <a:lnTo>
                    <a:pt x="123570" y="0"/>
                  </a:lnTo>
                  <a:lnTo>
                    <a:pt x="370712" y="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78523" y="4710302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59" h="494664">
                  <a:moveTo>
                    <a:pt x="247142" y="0"/>
                  </a:moveTo>
                  <a:lnTo>
                    <a:pt x="0" y="247269"/>
                  </a:lnTo>
                  <a:lnTo>
                    <a:pt x="247142" y="494411"/>
                  </a:lnTo>
                  <a:lnTo>
                    <a:pt x="247142" y="370840"/>
                  </a:lnTo>
                  <a:lnTo>
                    <a:pt x="758951" y="370840"/>
                  </a:lnTo>
                  <a:lnTo>
                    <a:pt x="758951" y="123698"/>
                  </a:lnTo>
                  <a:lnTo>
                    <a:pt x="247142" y="123698"/>
                  </a:lnTo>
                  <a:lnTo>
                    <a:pt x="2471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78523" y="4710302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59" h="494664">
                  <a:moveTo>
                    <a:pt x="758951" y="370840"/>
                  </a:moveTo>
                  <a:lnTo>
                    <a:pt x="247142" y="370840"/>
                  </a:lnTo>
                  <a:lnTo>
                    <a:pt x="247142" y="494411"/>
                  </a:lnTo>
                  <a:lnTo>
                    <a:pt x="0" y="247269"/>
                  </a:lnTo>
                  <a:lnTo>
                    <a:pt x="247142" y="0"/>
                  </a:lnTo>
                  <a:lnTo>
                    <a:pt x="247142" y="123698"/>
                  </a:lnTo>
                  <a:lnTo>
                    <a:pt x="758951" y="123698"/>
                  </a:lnTo>
                  <a:lnTo>
                    <a:pt x="758951" y="37084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65068" y="4957572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60" h="494664">
                  <a:moveTo>
                    <a:pt x="247142" y="0"/>
                  </a:moveTo>
                  <a:lnTo>
                    <a:pt x="0" y="247141"/>
                  </a:lnTo>
                  <a:lnTo>
                    <a:pt x="247142" y="494410"/>
                  </a:lnTo>
                  <a:lnTo>
                    <a:pt x="247142" y="370839"/>
                  </a:lnTo>
                  <a:lnTo>
                    <a:pt x="758952" y="370839"/>
                  </a:lnTo>
                  <a:lnTo>
                    <a:pt x="758952" y="123570"/>
                  </a:lnTo>
                  <a:lnTo>
                    <a:pt x="247142" y="123570"/>
                  </a:lnTo>
                  <a:lnTo>
                    <a:pt x="2471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65068" y="4957572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60" h="494664">
                  <a:moveTo>
                    <a:pt x="758952" y="370839"/>
                  </a:moveTo>
                  <a:lnTo>
                    <a:pt x="247142" y="370839"/>
                  </a:lnTo>
                  <a:lnTo>
                    <a:pt x="247142" y="494410"/>
                  </a:lnTo>
                  <a:lnTo>
                    <a:pt x="0" y="247141"/>
                  </a:lnTo>
                  <a:lnTo>
                    <a:pt x="247142" y="0"/>
                  </a:lnTo>
                  <a:lnTo>
                    <a:pt x="247142" y="123570"/>
                  </a:lnTo>
                  <a:lnTo>
                    <a:pt x="758952" y="123570"/>
                  </a:lnTo>
                  <a:lnTo>
                    <a:pt x="758952" y="3708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685800"/>
            <a:ext cx="4828032" cy="27793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6615" y="752855"/>
            <a:ext cx="275590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5"/>
              </a:lnSpc>
            </a:pPr>
            <a:r>
              <a:rPr sz="1800" spc="-10" dirty="0">
                <a:latin typeface="Times New Roman"/>
                <a:cs typeface="Times New Roman"/>
              </a:rPr>
              <a:t>Multi-</a:t>
            </a:r>
            <a:r>
              <a:rPr sz="1800" dirty="0">
                <a:latin typeface="Times New Roman"/>
                <a:cs typeface="Times New Roman"/>
              </a:rPr>
              <a:t>section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(Patch </a:t>
            </a:r>
            <a:r>
              <a:rPr sz="1800" spc="-10" dirty="0">
                <a:latin typeface="Times New Roman"/>
                <a:cs typeface="Times New Roman"/>
              </a:rPr>
              <a:t>creation)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5984" y="685800"/>
            <a:ext cx="4619752" cy="27793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97423" y="3094735"/>
            <a:ext cx="275590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5"/>
              </a:lnSpc>
            </a:pPr>
            <a:r>
              <a:rPr sz="1800" spc="-10" dirty="0">
                <a:latin typeface="Times New Roman"/>
                <a:cs typeface="Times New Roman"/>
              </a:rPr>
              <a:t>Multi-</a:t>
            </a:r>
            <a:r>
              <a:rPr sz="1800" dirty="0">
                <a:latin typeface="Times New Roman"/>
                <a:cs typeface="Times New Roman"/>
              </a:rPr>
              <a:t>section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(Patch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creation)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175" y="3561918"/>
            <a:ext cx="5817362" cy="277939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56615" y="6034875"/>
            <a:ext cx="110045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dirty="0">
                <a:latin typeface="Times New Roman"/>
                <a:cs typeface="Times New Roman"/>
              </a:rPr>
              <a:t>Shape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Fillet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9632" y="3561943"/>
            <a:ext cx="4881752" cy="277520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91071" y="6034875"/>
            <a:ext cx="124714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Multi-section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63770" y="1721739"/>
            <a:ext cx="1911985" cy="3719829"/>
            <a:chOff x="4763770" y="1721739"/>
            <a:chExt cx="1911985" cy="3719829"/>
          </a:xfrm>
        </p:grpSpPr>
        <p:sp>
          <p:nvSpPr>
            <p:cNvPr id="12" name="object 12"/>
            <p:cNvSpPr/>
            <p:nvPr/>
          </p:nvSpPr>
          <p:spPr>
            <a:xfrm>
              <a:off x="5265293" y="3383915"/>
              <a:ext cx="494665" cy="759460"/>
            </a:xfrm>
            <a:custGeom>
              <a:avLst/>
              <a:gdLst/>
              <a:ahLst/>
              <a:cxnLst/>
              <a:rect l="l" t="t" r="r" b="b"/>
              <a:pathLst>
                <a:path w="494664" h="759460">
                  <a:moveTo>
                    <a:pt x="370840" y="0"/>
                  </a:moveTo>
                  <a:lnTo>
                    <a:pt x="123698" y="0"/>
                  </a:lnTo>
                  <a:lnTo>
                    <a:pt x="123698" y="511810"/>
                  </a:lnTo>
                  <a:lnTo>
                    <a:pt x="0" y="511810"/>
                  </a:lnTo>
                  <a:lnTo>
                    <a:pt x="247269" y="758952"/>
                  </a:lnTo>
                  <a:lnTo>
                    <a:pt x="494411" y="511810"/>
                  </a:lnTo>
                  <a:lnTo>
                    <a:pt x="370840" y="511810"/>
                  </a:lnTo>
                  <a:lnTo>
                    <a:pt x="37084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65293" y="3383915"/>
              <a:ext cx="494665" cy="759460"/>
            </a:xfrm>
            <a:custGeom>
              <a:avLst/>
              <a:gdLst/>
              <a:ahLst/>
              <a:cxnLst/>
              <a:rect l="l" t="t" r="r" b="b"/>
              <a:pathLst>
                <a:path w="494664" h="759460">
                  <a:moveTo>
                    <a:pt x="370840" y="0"/>
                  </a:moveTo>
                  <a:lnTo>
                    <a:pt x="370840" y="511810"/>
                  </a:lnTo>
                  <a:lnTo>
                    <a:pt x="494411" y="511810"/>
                  </a:lnTo>
                  <a:lnTo>
                    <a:pt x="247269" y="758952"/>
                  </a:lnTo>
                  <a:lnTo>
                    <a:pt x="0" y="511810"/>
                  </a:lnTo>
                  <a:lnTo>
                    <a:pt x="123698" y="511810"/>
                  </a:lnTo>
                  <a:lnTo>
                    <a:pt x="123698" y="0"/>
                  </a:lnTo>
                  <a:lnTo>
                    <a:pt x="370840" y="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70120" y="1728089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60" h="494664">
                  <a:moveTo>
                    <a:pt x="511809" y="0"/>
                  </a:moveTo>
                  <a:lnTo>
                    <a:pt x="511809" y="123571"/>
                  </a:lnTo>
                  <a:lnTo>
                    <a:pt x="0" y="123571"/>
                  </a:lnTo>
                  <a:lnTo>
                    <a:pt x="0" y="370839"/>
                  </a:lnTo>
                  <a:lnTo>
                    <a:pt x="511809" y="370839"/>
                  </a:lnTo>
                  <a:lnTo>
                    <a:pt x="511809" y="494411"/>
                  </a:lnTo>
                  <a:lnTo>
                    <a:pt x="758951" y="247269"/>
                  </a:lnTo>
                  <a:lnTo>
                    <a:pt x="51180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70120" y="1728089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60" h="494664">
                  <a:moveTo>
                    <a:pt x="0" y="123571"/>
                  </a:moveTo>
                  <a:lnTo>
                    <a:pt x="511809" y="123571"/>
                  </a:lnTo>
                  <a:lnTo>
                    <a:pt x="511809" y="0"/>
                  </a:lnTo>
                  <a:lnTo>
                    <a:pt x="758951" y="247269"/>
                  </a:lnTo>
                  <a:lnTo>
                    <a:pt x="511809" y="494411"/>
                  </a:lnTo>
                  <a:lnTo>
                    <a:pt x="511809" y="370839"/>
                  </a:lnTo>
                  <a:lnTo>
                    <a:pt x="0" y="370839"/>
                  </a:lnTo>
                  <a:lnTo>
                    <a:pt x="0" y="123571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10326" y="4940554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59" h="494664">
                  <a:moveTo>
                    <a:pt x="511810" y="0"/>
                  </a:moveTo>
                  <a:lnTo>
                    <a:pt x="511810" y="123698"/>
                  </a:lnTo>
                  <a:lnTo>
                    <a:pt x="0" y="123698"/>
                  </a:lnTo>
                  <a:lnTo>
                    <a:pt x="0" y="370840"/>
                  </a:lnTo>
                  <a:lnTo>
                    <a:pt x="511810" y="370840"/>
                  </a:lnTo>
                  <a:lnTo>
                    <a:pt x="511810" y="494411"/>
                  </a:lnTo>
                  <a:lnTo>
                    <a:pt x="758951" y="247269"/>
                  </a:lnTo>
                  <a:lnTo>
                    <a:pt x="5118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10326" y="4940554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59" h="494664">
                  <a:moveTo>
                    <a:pt x="0" y="123698"/>
                  </a:moveTo>
                  <a:lnTo>
                    <a:pt x="511810" y="123698"/>
                  </a:lnTo>
                  <a:lnTo>
                    <a:pt x="511810" y="0"/>
                  </a:lnTo>
                  <a:lnTo>
                    <a:pt x="758951" y="247269"/>
                  </a:lnTo>
                  <a:lnTo>
                    <a:pt x="511810" y="494411"/>
                  </a:lnTo>
                  <a:lnTo>
                    <a:pt x="511810" y="370840"/>
                  </a:lnTo>
                  <a:lnTo>
                    <a:pt x="0" y="370840"/>
                  </a:lnTo>
                  <a:lnTo>
                    <a:pt x="0" y="123698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1671" y="1188719"/>
            <a:ext cx="8709914" cy="463600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91055" y="1347216"/>
            <a:ext cx="43307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5"/>
              </a:lnSpc>
            </a:pPr>
            <a:r>
              <a:rPr sz="1800" spc="-10" dirty="0">
                <a:latin typeface="Times New Roman"/>
                <a:cs typeface="Times New Roman"/>
              </a:rPr>
              <a:t>Split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45541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Boundary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Class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reference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Define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Axis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based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ensures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manufacturable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proper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draft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spc="-10" dirty="0">
                <a:latin typeface="Times New Roman"/>
                <a:cs typeface="Times New Roman"/>
              </a:rPr>
              <a:t>angles.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Sweep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Operation</a:t>
            </a:r>
            <a:endParaRPr sz="1500">
              <a:latin typeface="Times New Roman"/>
              <a:cs typeface="Times New Roman"/>
            </a:endParaRPr>
          </a:p>
          <a:p>
            <a:pPr marL="299085" marR="6350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along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generate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boundaries.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 the required draft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 (0.5°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specified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 surface to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core </a:t>
            </a:r>
            <a:r>
              <a:rPr sz="1500" dirty="0">
                <a:latin typeface="Times New Roman"/>
                <a:cs typeface="Times New Roman"/>
              </a:rPr>
              <a:t>side)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 </a:t>
            </a:r>
            <a:r>
              <a:rPr sz="1500" spc="-10" dirty="0">
                <a:latin typeface="Times New Roman"/>
                <a:cs typeface="Times New Roman"/>
              </a:rPr>
              <a:t>sweep.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20"/>
              </a:spcBef>
            </a:pPr>
            <a:r>
              <a:rPr sz="1500" b="1" dirty="0">
                <a:latin typeface="Times New Roman"/>
                <a:cs typeface="Times New Roman"/>
              </a:rPr>
              <a:t>Check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Continuity</a:t>
            </a:r>
            <a:endParaRPr sz="1500">
              <a:latin typeface="Times New Roman"/>
              <a:cs typeface="Times New Roman"/>
            </a:endParaRPr>
          </a:p>
          <a:p>
            <a:pPr marL="299085" marR="6350" indent="-287020">
              <a:lnSpc>
                <a:spcPts val="162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spc="-10" dirty="0">
                <a:latin typeface="Times New Roman"/>
                <a:cs typeface="Times New Roman"/>
              </a:rPr>
              <a:t>Verify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swept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connect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smoothly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1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and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parameters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extend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boundaries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0" dirty="0">
                <a:latin typeface="Times New Roman"/>
                <a:cs typeface="Times New Roman"/>
              </a:rPr>
              <a:t> detected.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5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openings.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3956" y="438658"/>
            <a:ext cx="5007990" cy="28397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3956" y="3397034"/>
            <a:ext cx="5004815" cy="27505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24046" y="621791"/>
            <a:ext cx="7861934" cy="2642235"/>
            <a:chOff x="3924046" y="621791"/>
            <a:chExt cx="7861934" cy="2642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4046" y="621791"/>
              <a:ext cx="4141342" cy="26419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1241" y="621791"/>
              <a:ext cx="3634612" cy="26419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027423" y="712723"/>
            <a:ext cx="62230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5"/>
              </a:lnSpc>
            </a:pPr>
            <a:r>
              <a:rPr sz="1800" spc="-10" dirty="0">
                <a:latin typeface="Times New Roman"/>
                <a:cs typeface="Times New Roman"/>
              </a:rPr>
              <a:t>Sweep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42681" y="688848"/>
            <a:ext cx="340677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1935"/>
              </a:lnSpc>
            </a:pP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Intersection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Split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B-Surface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5175" y="645668"/>
            <a:ext cx="11520805" cy="5350510"/>
            <a:chOff x="265175" y="645668"/>
            <a:chExt cx="11520805" cy="535051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2359" y="3308311"/>
              <a:ext cx="4333494" cy="26878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175" y="645668"/>
              <a:ext cx="3600196" cy="240842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783079" y="685800"/>
            <a:ext cx="1996439" cy="2108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sz="1500" dirty="0">
                <a:latin typeface="Times New Roman"/>
                <a:cs typeface="Times New Roman"/>
              </a:rPr>
              <a:t>Undercut</a:t>
            </a:r>
            <a:r>
              <a:rPr sz="1500" spc="2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3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3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&gt;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3079" y="914400"/>
            <a:ext cx="1995170" cy="2108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0"/>
              </a:lnSpc>
              <a:tabLst>
                <a:tab pos="841375" algn="l"/>
                <a:tab pos="1283335" algn="l"/>
              </a:tabLst>
            </a:pPr>
            <a:r>
              <a:rPr sz="1500" spc="-10" dirty="0">
                <a:latin typeface="Times New Roman"/>
                <a:cs typeface="Times New Roman"/>
              </a:rPr>
              <a:t>Remove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5" dirty="0">
                <a:latin typeface="Times New Roman"/>
                <a:cs typeface="Times New Roman"/>
              </a:rPr>
              <a:t>the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" dirty="0">
                <a:latin typeface="Times New Roman"/>
                <a:cs typeface="Times New Roman"/>
              </a:rPr>
              <a:t>undercut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3079" y="1143000"/>
            <a:ext cx="1393825" cy="2108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sz="1500" dirty="0">
                <a:latin typeface="Times New Roman"/>
                <a:cs typeface="Times New Roman"/>
              </a:rPr>
              <a:t>patch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recreate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43800" y="3424682"/>
            <a:ext cx="124714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5"/>
              </a:lnSpc>
            </a:pPr>
            <a:r>
              <a:rPr sz="1800" spc="-10" dirty="0">
                <a:latin typeface="Times New Roman"/>
                <a:cs typeface="Times New Roman"/>
              </a:rPr>
              <a:t>Multi-section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7559" y="3316795"/>
            <a:ext cx="4043807" cy="267957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429000" y="3383915"/>
            <a:ext cx="124714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5"/>
              </a:lnSpc>
            </a:pPr>
            <a:r>
              <a:rPr sz="1800" spc="-10" dirty="0">
                <a:latin typeface="Times New Roman"/>
                <a:cs typeface="Times New Roman"/>
              </a:rPr>
              <a:t>Multi-section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75203" y="1634489"/>
            <a:ext cx="6137275" cy="3271520"/>
            <a:chOff x="3275203" y="1634489"/>
            <a:chExt cx="6137275" cy="3271520"/>
          </a:xfrm>
        </p:grpSpPr>
        <p:sp>
          <p:nvSpPr>
            <p:cNvPr id="18" name="object 18"/>
            <p:cNvSpPr/>
            <p:nvPr/>
          </p:nvSpPr>
          <p:spPr>
            <a:xfrm>
              <a:off x="8911463" y="2962655"/>
              <a:ext cx="494665" cy="759460"/>
            </a:xfrm>
            <a:custGeom>
              <a:avLst/>
              <a:gdLst/>
              <a:ahLst/>
              <a:cxnLst/>
              <a:rect l="l" t="t" r="r" b="b"/>
              <a:pathLst>
                <a:path w="494665" h="759460">
                  <a:moveTo>
                    <a:pt x="370712" y="0"/>
                  </a:moveTo>
                  <a:lnTo>
                    <a:pt x="123570" y="0"/>
                  </a:lnTo>
                  <a:lnTo>
                    <a:pt x="123570" y="511810"/>
                  </a:lnTo>
                  <a:lnTo>
                    <a:pt x="0" y="511810"/>
                  </a:lnTo>
                  <a:lnTo>
                    <a:pt x="247141" y="758952"/>
                  </a:lnTo>
                  <a:lnTo>
                    <a:pt x="494410" y="511810"/>
                  </a:lnTo>
                  <a:lnTo>
                    <a:pt x="370712" y="511810"/>
                  </a:lnTo>
                  <a:lnTo>
                    <a:pt x="37071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11463" y="2962655"/>
              <a:ext cx="494665" cy="759460"/>
            </a:xfrm>
            <a:custGeom>
              <a:avLst/>
              <a:gdLst/>
              <a:ahLst/>
              <a:cxnLst/>
              <a:rect l="l" t="t" r="r" b="b"/>
              <a:pathLst>
                <a:path w="494665" h="759460">
                  <a:moveTo>
                    <a:pt x="370712" y="0"/>
                  </a:moveTo>
                  <a:lnTo>
                    <a:pt x="370712" y="511810"/>
                  </a:lnTo>
                  <a:lnTo>
                    <a:pt x="494410" y="511810"/>
                  </a:lnTo>
                  <a:lnTo>
                    <a:pt x="247141" y="758952"/>
                  </a:lnTo>
                  <a:lnTo>
                    <a:pt x="0" y="511810"/>
                  </a:lnTo>
                  <a:lnTo>
                    <a:pt x="123570" y="511810"/>
                  </a:lnTo>
                  <a:lnTo>
                    <a:pt x="123570" y="0"/>
                  </a:lnTo>
                  <a:lnTo>
                    <a:pt x="370712" y="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81553" y="1640839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60" h="494664">
                  <a:moveTo>
                    <a:pt x="511683" y="0"/>
                  </a:moveTo>
                  <a:lnTo>
                    <a:pt x="511683" y="123698"/>
                  </a:lnTo>
                  <a:lnTo>
                    <a:pt x="0" y="123698"/>
                  </a:lnTo>
                  <a:lnTo>
                    <a:pt x="0" y="370839"/>
                  </a:lnTo>
                  <a:lnTo>
                    <a:pt x="511683" y="370839"/>
                  </a:lnTo>
                  <a:lnTo>
                    <a:pt x="511683" y="494411"/>
                  </a:lnTo>
                  <a:lnTo>
                    <a:pt x="758951" y="247269"/>
                  </a:lnTo>
                  <a:lnTo>
                    <a:pt x="51168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81553" y="1640839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60" h="494664">
                  <a:moveTo>
                    <a:pt x="0" y="123698"/>
                  </a:moveTo>
                  <a:lnTo>
                    <a:pt x="511683" y="123698"/>
                  </a:lnTo>
                  <a:lnTo>
                    <a:pt x="511683" y="0"/>
                  </a:lnTo>
                  <a:lnTo>
                    <a:pt x="758951" y="247269"/>
                  </a:lnTo>
                  <a:lnTo>
                    <a:pt x="511683" y="494411"/>
                  </a:lnTo>
                  <a:lnTo>
                    <a:pt x="511683" y="370839"/>
                  </a:lnTo>
                  <a:lnTo>
                    <a:pt x="0" y="370839"/>
                  </a:lnTo>
                  <a:lnTo>
                    <a:pt x="0" y="123698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86524" y="4404994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59" h="494664">
                  <a:moveTo>
                    <a:pt x="247142" y="0"/>
                  </a:moveTo>
                  <a:lnTo>
                    <a:pt x="0" y="247268"/>
                  </a:lnTo>
                  <a:lnTo>
                    <a:pt x="247142" y="494410"/>
                  </a:lnTo>
                  <a:lnTo>
                    <a:pt x="247142" y="370839"/>
                  </a:lnTo>
                  <a:lnTo>
                    <a:pt x="758951" y="370839"/>
                  </a:lnTo>
                  <a:lnTo>
                    <a:pt x="758951" y="123697"/>
                  </a:lnTo>
                  <a:lnTo>
                    <a:pt x="247142" y="123697"/>
                  </a:lnTo>
                  <a:lnTo>
                    <a:pt x="2471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86524" y="4404994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59" h="494664">
                  <a:moveTo>
                    <a:pt x="758951" y="370839"/>
                  </a:moveTo>
                  <a:lnTo>
                    <a:pt x="247142" y="370839"/>
                  </a:lnTo>
                  <a:lnTo>
                    <a:pt x="247142" y="494410"/>
                  </a:lnTo>
                  <a:lnTo>
                    <a:pt x="0" y="247268"/>
                  </a:lnTo>
                  <a:lnTo>
                    <a:pt x="247142" y="0"/>
                  </a:lnTo>
                  <a:lnTo>
                    <a:pt x="247142" y="123697"/>
                  </a:lnTo>
                  <a:lnTo>
                    <a:pt x="758951" y="123697"/>
                  </a:lnTo>
                  <a:lnTo>
                    <a:pt x="758951" y="3708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87259" y="1729739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59" h="494664">
                  <a:moveTo>
                    <a:pt x="511810" y="0"/>
                  </a:moveTo>
                  <a:lnTo>
                    <a:pt x="511810" y="123571"/>
                  </a:lnTo>
                  <a:lnTo>
                    <a:pt x="0" y="123571"/>
                  </a:lnTo>
                  <a:lnTo>
                    <a:pt x="0" y="370713"/>
                  </a:lnTo>
                  <a:lnTo>
                    <a:pt x="511810" y="370713"/>
                  </a:lnTo>
                  <a:lnTo>
                    <a:pt x="511810" y="494411"/>
                  </a:lnTo>
                  <a:lnTo>
                    <a:pt x="758951" y="247142"/>
                  </a:lnTo>
                  <a:lnTo>
                    <a:pt x="51181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87259" y="1729739"/>
              <a:ext cx="759460" cy="494665"/>
            </a:xfrm>
            <a:custGeom>
              <a:avLst/>
              <a:gdLst/>
              <a:ahLst/>
              <a:cxnLst/>
              <a:rect l="l" t="t" r="r" b="b"/>
              <a:pathLst>
                <a:path w="759459" h="494664">
                  <a:moveTo>
                    <a:pt x="0" y="123571"/>
                  </a:moveTo>
                  <a:lnTo>
                    <a:pt x="511810" y="123571"/>
                  </a:lnTo>
                  <a:lnTo>
                    <a:pt x="511810" y="0"/>
                  </a:lnTo>
                  <a:lnTo>
                    <a:pt x="758951" y="247142"/>
                  </a:lnTo>
                  <a:lnTo>
                    <a:pt x="511810" y="494411"/>
                  </a:lnTo>
                  <a:lnTo>
                    <a:pt x="511810" y="370713"/>
                  </a:lnTo>
                  <a:lnTo>
                    <a:pt x="0" y="370713"/>
                  </a:lnTo>
                  <a:lnTo>
                    <a:pt x="0" y="123571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5776" y="621791"/>
            <a:ext cx="4744593" cy="26626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929" y="3429012"/>
            <a:ext cx="4933696" cy="3156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spc="-85" dirty="0"/>
              <a:t> </a:t>
            </a:r>
            <a:r>
              <a:rPr spc="-20" dirty="0"/>
              <a:t>Trim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78740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Final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Trim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Perform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together.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single,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model.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Solid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Conversion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convert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center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bezel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further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2228189"/>
            <a:ext cx="5549138" cy="4084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5311" y="2228189"/>
            <a:ext cx="5937503" cy="4084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Draft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solid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parting</a:t>
            </a:r>
            <a:r>
              <a:rPr spc="-40" dirty="0"/>
              <a:t> </a:t>
            </a: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5565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performed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center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bezel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axis.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confirmed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most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draft </a:t>
            </a:r>
            <a:r>
              <a:rPr sz="1500" dirty="0">
                <a:latin typeface="Times New Roman"/>
                <a:cs typeface="Times New Roman"/>
              </a:rPr>
              <a:t>angle,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Color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coding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acceptable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green,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minor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adjustments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needed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in </a:t>
            </a:r>
            <a:r>
              <a:rPr sz="1500" dirty="0">
                <a:latin typeface="Times New Roman"/>
                <a:cs typeface="Times New Roman"/>
              </a:rPr>
              <a:t>red/blue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areas.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Overall,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feasibility.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175" y="1343405"/>
            <a:ext cx="11828145" cy="4893310"/>
            <a:chOff x="265175" y="1343405"/>
            <a:chExt cx="11828145" cy="48933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175" y="1343405"/>
              <a:ext cx="5809488" cy="48928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7335" y="1343405"/>
              <a:ext cx="5975477" cy="489280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56615" y="5901931"/>
            <a:ext cx="61468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Cavity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8776" y="5933935"/>
            <a:ext cx="457834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spc="-20" dirty="0">
                <a:latin typeface="Times New Roman"/>
                <a:cs typeface="Times New Roman"/>
              </a:rPr>
              <a:t>Core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Center</a:t>
            </a:r>
            <a:r>
              <a:rPr spc="-60" dirty="0"/>
              <a:t> </a:t>
            </a:r>
            <a:r>
              <a:rPr spc="-10" dirty="0"/>
              <a:t>Bezel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930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Hence,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center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bezel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component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designed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developed,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incorporating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surfaces,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finalized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line.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4992" y="1216786"/>
            <a:ext cx="8002015" cy="5321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874</Words>
  <Application>Microsoft Office PowerPoint</Application>
  <PresentationFormat>Widescreen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 MT</vt:lpstr>
      <vt:lpstr>Calibri</vt:lpstr>
      <vt:lpstr>Times New Roman</vt:lpstr>
      <vt:lpstr>Office Theme</vt:lpstr>
      <vt:lpstr>Center Bezel</vt:lpstr>
      <vt:lpstr>Objective</vt:lpstr>
      <vt:lpstr>Tooling Axis Creation and Class A Surface Draft Analysis</vt:lpstr>
      <vt:lpstr>Curvature Analysis</vt:lpstr>
      <vt:lpstr>Class A Surface Modification</vt:lpstr>
      <vt:lpstr>Class A Surface Modification</vt:lpstr>
      <vt:lpstr>Class B Surface Development</vt:lpstr>
      <vt:lpstr>Class B Surface Development</vt:lpstr>
      <vt:lpstr>Class B Surface Development</vt:lpstr>
      <vt:lpstr>Class C Surface Development</vt:lpstr>
      <vt:lpstr>Class C Surface Development</vt:lpstr>
      <vt:lpstr>Class C Surface Development</vt:lpstr>
      <vt:lpstr>Final Trim and Solid Part Conversion</vt:lpstr>
      <vt:lpstr>Draft analysis on solid part for parting line creation</vt:lpstr>
      <vt:lpstr>Center Bezel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Center Bezel</dc:title>
  <dc:creator>Ratikesh Satle</dc:creator>
  <cp:lastModifiedBy>DELL</cp:lastModifiedBy>
  <cp:revision>2</cp:revision>
  <dcterms:created xsi:type="dcterms:W3CDTF">2026-07-24T18:56:12Z</dcterms:created>
  <dcterms:modified xsi:type="dcterms:W3CDTF">2026-07-24T19:23:43Z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2026-05-18T00:00:00Z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2021</vt:lpwstr>
  </property>
</Properties>
</file>